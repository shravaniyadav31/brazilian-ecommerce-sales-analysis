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(R$)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Credit Card</c:v>
                  </c:pt>
                  <c:pt idx="1">
                    <c:v>Boleto</c:v>
                  </c:pt>
                  <c:pt idx="2">
                    <c:v>Voucher</c:v>
                  </c:pt>
                  <c:pt idx="3">
                    <c:v>Debit Card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12542084.19</c:v>
                </c:pt>
                <c:pt idx="1">
                  <c:v>2869361.27</c:v>
                </c:pt>
                <c:pt idx="2">
                  <c:v>379436.87</c:v>
                </c:pt>
                <c:pt idx="3">
                  <c:v>217989.79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8E5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0B6E4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291840" cy="3291840"/>
          </a:xfrm>
          <a:prstGeom prst="ellipse">
            <a:avLst/>
          </a:prstGeom>
          <a:solidFill>
            <a:srgbClr val="D4A017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·  SQL  ·  MYSQL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Brazilian E-Commerce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Analysis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revenue drivers, customer value, and sales trends from 99,441 orders on the Olist marketplace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99,441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596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11880" y="5074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R$16.0M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11880" y="5596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5074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0" y="5596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SUCCESS RATE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Olist public e-commerce dataset  ·  2016–2018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481328"/>
          </a:xfrm>
          <a:prstGeom prst="rect">
            <a:avLst/>
          </a:prstGeom>
          <a:solidFill>
            <a:srgbClr val="F4F7F6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4767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19659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377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dataset, and analytical approach using SQL &amp; MySQL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49240" cy="1481328"/>
          </a:xfrm>
          <a:prstGeom prst="rect">
            <a:avLst/>
          </a:prstGeom>
          <a:solidFill>
            <a:srgbClr val="F4F7F6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94767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60920" y="19659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60920" y="2377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orders, revenue, average order value, and payment mix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349240" cy="1481328"/>
          </a:xfrm>
          <a:prstGeom prst="rect">
            <a:avLst/>
          </a:prstGeom>
          <a:solidFill>
            <a:srgbClr val="F4F7F6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59359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91640" y="36118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Customer Insights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4023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Top-performing states and highest-value customers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429000"/>
            <a:ext cx="5349240" cy="1481328"/>
          </a:xfrm>
          <a:prstGeom prst="rect">
            <a:avLst/>
          </a:prstGeom>
          <a:solidFill>
            <a:srgbClr val="F4F7F6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9359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60920" y="36118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Seller Performance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60920" y="4023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Best-selling categories and top revenue-generating sellers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5349240" cy="1481328"/>
          </a:xfrm>
          <a:prstGeom prst="rect">
            <a:avLst/>
          </a:prstGeom>
          <a:solidFill>
            <a:srgbClr val="F4F7F6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2395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91640" y="52578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Fulfillment Health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56692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rates, cancellations, and operational bottlenecks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5074920"/>
            <a:ext cx="5349240" cy="1481328"/>
          </a:xfrm>
          <a:prstGeom prst="rect">
            <a:avLst/>
          </a:prstGeom>
          <a:solidFill>
            <a:srgbClr val="F4F7F6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52395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60920" y="52578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60920" y="56692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for retention and revenue optimization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Methodology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explores the Olist Brazilian e-commerce dataset — covering orders, payments, products, sellers, and customers from 2016–2018 — using SQL on MySQL to extract business-critical insights for retention and revenue growth.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66928" cy="566928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6" name="Image 0" descr="images/db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2738628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5694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29077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relational tables (orders, customers, products, sellers, payments, reviews, geolocation) loaded into MySQL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685032"/>
            <a:ext cx="566928" cy="566928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0" name="Image 1" descr="images/chart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" y="3817620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6484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Queries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25880" y="39867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Aggregations, joins, and window-style ranking to surface volume and revenue patterns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764024"/>
            <a:ext cx="566928" cy="566928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4" name="Image 2" descr="images/bullseye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4896612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727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Translation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325880" y="506577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SQL outputs into customer retention and revenue optimization insights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269480" y="1417320"/>
            <a:ext cx="4370832" cy="4572000"/>
          </a:xfrm>
          <a:prstGeom prst="rect">
            <a:avLst/>
          </a:prstGeom>
          <a:solidFill>
            <a:srgbClr val="07432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6352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SCOPE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63524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99,441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9235440" y="23591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635240" y="2843784"/>
            <a:ext cx="3639312" cy="0"/>
          </a:xfrm>
          <a:prstGeom prst="line">
            <a:avLst/>
          </a:prstGeom>
          <a:noFill/>
          <a:ln w="12700">
            <a:solidFill>
              <a:srgbClr val="1C5F4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635240" y="29077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99,441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9235440" y="29809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635240" y="3465576"/>
            <a:ext cx="3639312" cy="0"/>
          </a:xfrm>
          <a:prstGeom prst="line">
            <a:avLst/>
          </a:prstGeom>
          <a:noFill/>
          <a:ln w="12700">
            <a:solidFill>
              <a:srgbClr val="1C5F4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635240" y="35295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3,095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9235440" y="36027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SELLERS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635240" y="4087368"/>
            <a:ext cx="3639312" cy="0"/>
          </a:xfrm>
          <a:prstGeom prst="line">
            <a:avLst/>
          </a:prstGeom>
          <a:noFill/>
          <a:ln w="12700">
            <a:solidFill>
              <a:srgbClr val="1C5F4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635240" y="41513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32,951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9235440" y="4224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LISTED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7635240" y="4709160"/>
            <a:ext cx="3639312" cy="0"/>
          </a:xfrm>
          <a:prstGeom prst="line">
            <a:avLst/>
          </a:prstGeom>
          <a:noFill/>
          <a:ln w="12700">
            <a:solidFill>
              <a:srgbClr val="1C5F4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635240" y="47731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2200" dirty="0"/>
          </a:p>
        </p:txBody>
      </p:sp>
      <p:sp>
        <p:nvSpPr>
          <p:cNvPr id="32" name="Text 27"/>
          <p:cNvSpPr/>
          <p:nvPr/>
        </p:nvSpPr>
        <p:spPr>
          <a:xfrm>
            <a:off x="9235440" y="4846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7635240" y="5330952"/>
            <a:ext cx="3639312" cy="0"/>
          </a:xfrm>
          <a:prstGeom prst="line">
            <a:avLst/>
          </a:prstGeom>
          <a:noFill/>
          <a:ln w="12700">
            <a:solidFill>
              <a:srgbClr val="1C5F45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635240" y="5394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200" dirty="0"/>
          </a:p>
        </p:txBody>
      </p:sp>
      <p:sp>
        <p:nvSpPr>
          <p:cNvPr id="35" name="Text 30"/>
          <p:cNvSpPr/>
          <p:nvPr/>
        </p:nvSpPr>
        <p:spPr>
          <a:xfrm>
            <a:off x="9235440" y="54681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STATES COVERED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 the Core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foundational queries against MySQL establish the dataset's scale and baseline economics.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274320"/>
          </a:xfrm>
          <a:prstGeom prst="rect">
            <a:avLst/>
          </a:prstGeom>
          <a:solidFill>
            <a:srgbClr val="2B2F33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79676"/>
            <a:ext cx="64008" cy="64008"/>
          </a:xfrm>
          <a:prstGeom prst="ellipse">
            <a:avLst/>
          </a:prstGeom>
          <a:solidFill>
            <a:srgbClr val="E0605A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979676"/>
            <a:ext cx="64008" cy="64008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" y="1979676"/>
            <a:ext cx="64008" cy="64008"/>
          </a:xfrm>
          <a:prstGeom prst="ellipse">
            <a:avLst/>
          </a:prstGeom>
          <a:solidFill>
            <a:srgbClr val="59B46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5257800" cy="1805940"/>
          </a:xfrm>
          <a:prstGeom prst="rect">
            <a:avLst/>
          </a:prstGeom>
          <a:solidFill>
            <a:srgbClr val="F7F8F8"/>
          </a:solidFill>
          <a:ln/>
        </p:spPr>
      </p:sp>
      <p:pic>
        <p:nvPicPr>
          <p:cNvPr id="11" name="Image 0" descr="query_screenshots/Screenshot_2026-06-17_132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7961" y="2148840"/>
            <a:ext cx="3602038" cy="18059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0080" y="1874520"/>
            <a:ext cx="5257800" cy="2080260"/>
          </a:xfrm>
          <a:prstGeom prst="rect">
            <a:avLst/>
          </a:prstGeom>
          <a:ln w="12700">
            <a:solidFill>
              <a:srgbClr val="1F222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874520"/>
            <a:ext cx="5257800" cy="274320"/>
          </a:xfrm>
          <a:prstGeom prst="rect">
            <a:avLst/>
          </a:prstGeom>
          <a:solidFill>
            <a:srgbClr val="2B2F33"/>
          </a:solidFill>
          <a:ln/>
        </p:spPr>
      </p:sp>
      <p:sp>
        <p:nvSpPr>
          <p:cNvPr id="14" name="Shape 11"/>
          <p:cNvSpPr/>
          <p:nvPr/>
        </p:nvSpPr>
        <p:spPr>
          <a:xfrm>
            <a:off x="6373368" y="1979676"/>
            <a:ext cx="64008" cy="64008"/>
          </a:xfrm>
          <a:prstGeom prst="ellipse">
            <a:avLst/>
          </a:prstGeom>
          <a:solidFill>
            <a:srgbClr val="E0605A"/>
          </a:solidFill>
          <a:ln/>
        </p:spPr>
      </p:sp>
      <p:sp>
        <p:nvSpPr>
          <p:cNvPr id="15" name="Shape 12"/>
          <p:cNvSpPr/>
          <p:nvPr/>
        </p:nvSpPr>
        <p:spPr>
          <a:xfrm>
            <a:off x="6519672" y="1979676"/>
            <a:ext cx="64008" cy="64008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16" name="Shape 13"/>
          <p:cNvSpPr/>
          <p:nvPr/>
        </p:nvSpPr>
        <p:spPr>
          <a:xfrm>
            <a:off x="6665976" y="1979676"/>
            <a:ext cx="64008" cy="64008"/>
          </a:xfrm>
          <a:prstGeom prst="ellipse">
            <a:avLst/>
          </a:prstGeom>
          <a:solidFill>
            <a:srgbClr val="59B463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1874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263640" y="2148840"/>
            <a:ext cx="5257800" cy="1805940"/>
          </a:xfrm>
          <a:prstGeom prst="rect">
            <a:avLst/>
          </a:prstGeom>
          <a:solidFill>
            <a:srgbClr val="F7F8F8"/>
          </a:solidFill>
          <a:ln/>
        </p:spPr>
      </p:sp>
      <p:pic>
        <p:nvPicPr>
          <p:cNvPr id="19" name="Image 1" descr="query_screenshots/Screenshot_2026-06-17_1337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881" y="2148840"/>
            <a:ext cx="3099319" cy="18059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263640" y="1874520"/>
            <a:ext cx="5257800" cy="2080260"/>
          </a:xfrm>
          <a:prstGeom prst="rect">
            <a:avLst/>
          </a:prstGeom>
          <a:ln w="12700">
            <a:solidFill>
              <a:srgbClr val="1F222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0080" y="4274820"/>
            <a:ext cx="5257800" cy="274320"/>
          </a:xfrm>
          <a:prstGeom prst="rect">
            <a:avLst/>
          </a:prstGeom>
          <a:solidFill>
            <a:srgbClr val="2B2F33"/>
          </a:solidFill>
          <a:ln/>
        </p:spPr>
      </p:sp>
      <p:sp>
        <p:nvSpPr>
          <p:cNvPr id="22" name="Shape 18"/>
          <p:cNvSpPr/>
          <p:nvPr/>
        </p:nvSpPr>
        <p:spPr>
          <a:xfrm>
            <a:off x="749808" y="4379976"/>
            <a:ext cx="64008" cy="64008"/>
          </a:xfrm>
          <a:prstGeom prst="ellipse">
            <a:avLst/>
          </a:prstGeom>
          <a:solidFill>
            <a:srgbClr val="E0605A"/>
          </a:solidFill>
          <a:ln/>
        </p:spPr>
      </p:sp>
      <p:sp>
        <p:nvSpPr>
          <p:cNvPr id="23" name="Shape 19"/>
          <p:cNvSpPr/>
          <p:nvPr/>
        </p:nvSpPr>
        <p:spPr>
          <a:xfrm>
            <a:off x="896112" y="4379976"/>
            <a:ext cx="64008" cy="64008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24" name="Shape 20"/>
          <p:cNvSpPr/>
          <p:nvPr/>
        </p:nvSpPr>
        <p:spPr>
          <a:xfrm>
            <a:off x="1042416" y="4379976"/>
            <a:ext cx="64008" cy="64008"/>
          </a:xfrm>
          <a:prstGeom prst="ellipse">
            <a:avLst/>
          </a:prstGeom>
          <a:solidFill>
            <a:srgbClr val="59B463"/>
          </a:solidFill>
          <a:ln/>
        </p:spPr>
      </p:sp>
      <p:sp>
        <p:nvSpPr>
          <p:cNvPr id="25" name="Text 21"/>
          <p:cNvSpPr/>
          <p:nvPr/>
        </p:nvSpPr>
        <p:spPr>
          <a:xfrm>
            <a:off x="640080" y="42748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40080" y="4549140"/>
            <a:ext cx="5257800" cy="1805940"/>
          </a:xfrm>
          <a:prstGeom prst="rect">
            <a:avLst/>
          </a:prstGeom>
          <a:solidFill>
            <a:srgbClr val="F7F8F8"/>
          </a:solidFill>
          <a:ln/>
        </p:spPr>
      </p:sp>
      <p:pic>
        <p:nvPicPr>
          <p:cNvPr id="27" name="Image 2" descr="query_screenshots/Screenshot_2026-06-17_1357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276" y="4549140"/>
            <a:ext cx="2993407" cy="180594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40080" y="4274820"/>
            <a:ext cx="5257800" cy="2080260"/>
          </a:xfrm>
          <a:prstGeom prst="rect">
            <a:avLst/>
          </a:prstGeom>
          <a:ln w="12700">
            <a:solidFill>
              <a:srgbClr val="1F222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263640" y="4274820"/>
            <a:ext cx="5257800" cy="274320"/>
          </a:xfrm>
          <a:prstGeom prst="rect">
            <a:avLst/>
          </a:prstGeom>
          <a:solidFill>
            <a:srgbClr val="2B2F33"/>
          </a:solidFill>
          <a:ln/>
        </p:spPr>
      </p:sp>
      <p:sp>
        <p:nvSpPr>
          <p:cNvPr id="30" name="Shape 25"/>
          <p:cNvSpPr/>
          <p:nvPr/>
        </p:nvSpPr>
        <p:spPr>
          <a:xfrm>
            <a:off x="6373368" y="4379976"/>
            <a:ext cx="64008" cy="64008"/>
          </a:xfrm>
          <a:prstGeom prst="ellipse">
            <a:avLst/>
          </a:prstGeom>
          <a:solidFill>
            <a:srgbClr val="E0605A"/>
          </a:solidFill>
          <a:ln/>
        </p:spPr>
      </p:sp>
      <p:sp>
        <p:nvSpPr>
          <p:cNvPr id="31" name="Shape 26"/>
          <p:cNvSpPr/>
          <p:nvPr/>
        </p:nvSpPr>
        <p:spPr>
          <a:xfrm>
            <a:off x="6519672" y="4379976"/>
            <a:ext cx="64008" cy="64008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32" name="Shape 27"/>
          <p:cNvSpPr/>
          <p:nvPr/>
        </p:nvSpPr>
        <p:spPr>
          <a:xfrm>
            <a:off x="6665976" y="4379976"/>
            <a:ext cx="64008" cy="64008"/>
          </a:xfrm>
          <a:prstGeom prst="ellipse">
            <a:avLst/>
          </a:prstGeom>
          <a:solidFill>
            <a:srgbClr val="59B463"/>
          </a:solidFill>
          <a:ln/>
        </p:spPr>
      </p:sp>
      <p:sp>
        <p:nvSpPr>
          <p:cNvPr id="33" name="Text 28"/>
          <p:cNvSpPr/>
          <p:nvPr/>
        </p:nvSpPr>
        <p:spPr>
          <a:xfrm>
            <a:off x="6263640" y="42748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263640" y="4549140"/>
            <a:ext cx="5257800" cy="1805940"/>
          </a:xfrm>
          <a:prstGeom prst="rect">
            <a:avLst/>
          </a:prstGeom>
          <a:solidFill>
            <a:srgbClr val="F7F8F8"/>
          </a:solidFill>
          <a:ln/>
        </p:spPr>
      </p:sp>
      <p:pic>
        <p:nvPicPr>
          <p:cNvPr id="35" name="Image 3" descr="query_screenshots/Screenshot_2026-06-17_14101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163" y="4549140"/>
            <a:ext cx="3222755" cy="1805940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6263640" y="4274820"/>
            <a:ext cx="5257800" cy="2080260"/>
          </a:xfrm>
          <a:prstGeom prst="rect">
            <a:avLst/>
          </a:prstGeom>
          <a:ln w="12700">
            <a:solidFill>
              <a:srgbClr val="1F222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7004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566928" cy="566928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6" name="Image 0" descr="image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20827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7063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R$16,008,872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53872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payment values across the full order history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65576" y="1783080"/>
            <a:ext cx="267004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58184" y="2075688"/>
            <a:ext cx="566928" cy="566928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2" name="Image 1" descr="images/c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772" y="2208276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9896" y="277063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99,441</a:t>
            </a:r>
            <a:endParaRPr lang="en-US" sz="2500" dirty="0"/>
          </a:p>
        </p:txBody>
      </p:sp>
      <p:sp>
        <p:nvSpPr>
          <p:cNvPr id="14" name="Text 10"/>
          <p:cNvSpPr/>
          <p:nvPr/>
        </p:nvSpPr>
        <p:spPr>
          <a:xfrm>
            <a:off x="3739896" y="324612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739896" y="353872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 total customer count — one order per customer record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382512" y="1783080"/>
            <a:ext cx="267004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675120" y="2075688"/>
            <a:ext cx="566928" cy="566928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8" name="Image 2" descr="images/moneywav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2208276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56832" y="277063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R$154.10</a:t>
            </a:r>
            <a:endParaRPr lang="en-US" sz="2500" dirty="0"/>
          </a:p>
        </p:txBody>
      </p:sp>
      <p:sp>
        <p:nvSpPr>
          <p:cNvPr id="20" name="Text 15"/>
          <p:cNvSpPr/>
          <p:nvPr/>
        </p:nvSpPr>
        <p:spPr>
          <a:xfrm>
            <a:off x="6656832" y="324612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656832" y="353872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transaction value across all completed payments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9299448" y="1783080"/>
            <a:ext cx="267004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592056" y="2075688"/>
            <a:ext cx="566928" cy="566928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24" name="Image 3" descr="images/c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644" y="2208276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73768" y="277063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78.4%</a:t>
            </a:r>
            <a:endParaRPr lang="en-US" sz="2500" dirty="0"/>
          </a:p>
        </p:txBody>
      </p:sp>
      <p:sp>
        <p:nvSpPr>
          <p:cNvPr id="26" name="Text 20"/>
          <p:cNvSpPr/>
          <p:nvPr/>
        </p:nvSpPr>
        <p:spPr>
          <a:xfrm>
            <a:off x="9573768" y="324612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CREDIT CARD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573768" y="353872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revenue collected through credit card payments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48640" y="4526280"/>
            <a:ext cx="11091672" cy="1417320"/>
          </a:xfrm>
          <a:prstGeom prst="rect">
            <a:avLst/>
          </a:prstGeom>
          <a:solidFill>
            <a:srgbClr val="07432F"/>
          </a:solidFill>
          <a:ln/>
        </p:spPr>
      </p:sp>
      <p:pic>
        <p:nvPicPr>
          <p:cNvPr id="29" name="Image 4" descr="images/bulb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2920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08760" y="478231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99,441 orders generating R$16.0M and an average order value of just R$154, growth is more likely to come from increasing basket size and repeat purchases than from acquiring more one-time buyers.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 Revenue by Payment 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payment_type with SUM(payment_value), ordered by revenue descending.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311335" y="786384"/>
            <a:ext cx="2331720" cy="310896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6" name="Text 4"/>
          <p:cNvSpPr/>
          <p:nvPr/>
        </p:nvSpPr>
        <p:spPr>
          <a:xfrm>
            <a:off x="9311335" y="7863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ANALYSIS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06109" y="2057400"/>
            <a:ext cx="5579476" cy="310896"/>
          </a:xfrm>
          <a:prstGeom prst="rect">
            <a:avLst/>
          </a:prstGeom>
          <a:solidFill>
            <a:srgbClr val="2B2F33"/>
          </a:solidFill>
          <a:ln/>
        </p:spPr>
      </p:sp>
      <p:sp>
        <p:nvSpPr>
          <p:cNvPr id="8" name="Shape 6"/>
          <p:cNvSpPr/>
          <p:nvPr/>
        </p:nvSpPr>
        <p:spPr>
          <a:xfrm>
            <a:off x="3434125" y="2171700"/>
            <a:ext cx="82296" cy="82296"/>
          </a:xfrm>
          <a:prstGeom prst="ellipse">
            <a:avLst/>
          </a:prstGeom>
          <a:solidFill>
            <a:srgbClr val="E0605A"/>
          </a:solidFill>
          <a:ln/>
        </p:spPr>
      </p:sp>
      <p:sp>
        <p:nvSpPr>
          <p:cNvPr id="9" name="Shape 7"/>
          <p:cNvSpPr/>
          <p:nvPr/>
        </p:nvSpPr>
        <p:spPr>
          <a:xfrm>
            <a:off x="3617005" y="2171700"/>
            <a:ext cx="82296" cy="82296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10" name="Shape 8"/>
          <p:cNvSpPr/>
          <p:nvPr/>
        </p:nvSpPr>
        <p:spPr>
          <a:xfrm>
            <a:off x="3799885" y="2171700"/>
            <a:ext cx="82296" cy="82296"/>
          </a:xfrm>
          <a:prstGeom prst="ellipse">
            <a:avLst/>
          </a:prstGeom>
          <a:solidFill>
            <a:srgbClr val="59B463"/>
          </a:solidFill>
          <a:ln/>
        </p:spPr>
      </p:sp>
      <p:sp>
        <p:nvSpPr>
          <p:cNvPr id="11" name="Text 9"/>
          <p:cNvSpPr/>
          <p:nvPr/>
        </p:nvSpPr>
        <p:spPr>
          <a:xfrm>
            <a:off x="3306109" y="2057400"/>
            <a:ext cx="5579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950" dirty="0"/>
          </a:p>
        </p:txBody>
      </p:sp>
      <p:pic>
        <p:nvPicPr>
          <p:cNvPr id="12" name="Image 0" descr="query_screenshots/Screenshot_2026-06-17_1411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6109" y="2368296"/>
            <a:ext cx="5579476" cy="4160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306109" y="2057400"/>
            <a:ext cx="5579476" cy="4471416"/>
          </a:xfrm>
          <a:prstGeom prst="rect">
            <a:avLst/>
          </a:prstGeom>
          <a:ln w="15875">
            <a:solidFill>
              <a:srgbClr val="1F2225"/>
            </a:solidFill>
            <a:prstDash val="solid"/>
          </a:ln>
          <a:effectLst>
            <a:outerShdw sx="100000" sy="100000" kx="0" ky="0" algn="bl" rotWithShape="0" blurRad="1143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Payment Method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GROUP BY payment_type, ordered by total revenue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82880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1874520"/>
            <a:ext cx="4370832" cy="914400"/>
          </a:xfrm>
          <a:prstGeom prst="rect">
            <a:avLst/>
          </a:prstGeom>
          <a:solidFill>
            <a:srgbClr val="F4F7F6"/>
          </a:solidFill>
          <a:ln w="12700">
            <a:solidFill>
              <a:srgbClr val="E1E8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0" y="2313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R$12,542,084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966960" y="18745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78.4%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269480" y="2926080"/>
            <a:ext cx="43708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0" y="3364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R$2,869,361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966960" y="2926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17.9%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269480" y="3977640"/>
            <a:ext cx="43708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98080" y="4416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R$379,437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966960" y="3977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2.4%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7269480" y="5029200"/>
            <a:ext cx="43708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0" y="5120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98080" y="54681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R$217,990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966960" y="5029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269480" y="6153912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dominates at 78% of revenue — a strong signal to prioritize installment offers and card-linked promotions for conversion lift.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 Top States by Revenue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customers → orders → payments, GROUP BY customer_state, ordered by revenue descending.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311335" y="786384"/>
            <a:ext cx="2331720" cy="310896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6" name="Text 4"/>
          <p:cNvSpPr/>
          <p:nvPr/>
        </p:nvSpPr>
        <p:spPr>
          <a:xfrm>
            <a:off x="9311335" y="7863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INSIGHTS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9259" y="2057400"/>
            <a:ext cx="3593176" cy="310896"/>
          </a:xfrm>
          <a:prstGeom prst="rect">
            <a:avLst/>
          </a:prstGeom>
          <a:solidFill>
            <a:srgbClr val="2B2F33"/>
          </a:solidFill>
          <a:ln/>
        </p:spPr>
      </p:sp>
      <p:sp>
        <p:nvSpPr>
          <p:cNvPr id="8" name="Shape 6"/>
          <p:cNvSpPr/>
          <p:nvPr/>
        </p:nvSpPr>
        <p:spPr>
          <a:xfrm>
            <a:off x="4427275" y="2171700"/>
            <a:ext cx="82296" cy="82296"/>
          </a:xfrm>
          <a:prstGeom prst="ellipse">
            <a:avLst/>
          </a:prstGeom>
          <a:solidFill>
            <a:srgbClr val="E0605A"/>
          </a:solidFill>
          <a:ln/>
        </p:spPr>
      </p:sp>
      <p:sp>
        <p:nvSpPr>
          <p:cNvPr id="9" name="Shape 7"/>
          <p:cNvSpPr/>
          <p:nvPr/>
        </p:nvSpPr>
        <p:spPr>
          <a:xfrm>
            <a:off x="4610155" y="2171700"/>
            <a:ext cx="82296" cy="82296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10" name="Shape 8"/>
          <p:cNvSpPr/>
          <p:nvPr/>
        </p:nvSpPr>
        <p:spPr>
          <a:xfrm>
            <a:off x="4793035" y="2171700"/>
            <a:ext cx="82296" cy="82296"/>
          </a:xfrm>
          <a:prstGeom prst="ellipse">
            <a:avLst/>
          </a:prstGeom>
          <a:solidFill>
            <a:srgbClr val="59B463"/>
          </a:solidFill>
          <a:ln/>
        </p:spPr>
      </p:sp>
      <p:sp>
        <p:nvSpPr>
          <p:cNvPr id="11" name="Text 9"/>
          <p:cNvSpPr/>
          <p:nvPr/>
        </p:nvSpPr>
        <p:spPr>
          <a:xfrm>
            <a:off x="4299259" y="2057400"/>
            <a:ext cx="359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950" dirty="0"/>
          </a:p>
        </p:txBody>
      </p:sp>
      <p:pic>
        <p:nvPicPr>
          <p:cNvPr id="12" name="Image 0" descr="query_screenshots/Screenshot_2026-06-17_1413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9259" y="2368296"/>
            <a:ext cx="3593176" cy="4160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299259" y="2057400"/>
            <a:ext cx="3593176" cy="4471416"/>
          </a:xfrm>
          <a:prstGeom prst="rect">
            <a:avLst/>
          </a:prstGeom>
          <a:ln w="15875">
            <a:solidFill>
              <a:srgbClr val="1F2225"/>
            </a:solidFill>
            <a:prstDash val="solid"/>
          </a:ln>
          <a:effectLst>
            <a:outerShdw sx="100000" sy="100000" kx="0" ky="0" algn="bl" rotWithShape="0" blurRad="1143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States by Revenue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JOIN customers → orders → payments, GROUP BY customer_state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02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1828800"/>
            <a:ext cx="548640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828800"/>
            <a:ext cx="5486400" cy="24688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783080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R$6.00M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502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2258568"/>
            <a:ext cx="548640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2258568"/>
            <a:ext cx="1961400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212848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R$2.14M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642616"/>
            <a:ext cx="502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2688336"/>
            <a:ext cx="548640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2688336"/>
            <a:ext cx="1712498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642616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R$1.87M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072384"/>
            <a:ext cx="502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7280" y="3118104"/>
            <a:ext cx="548640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3118104"/>
            <a:ext cx="814878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3072384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R$0.89M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502152"/>
            <a:ext cx="502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0" y="3547872"/>
            <a:ext cx="548640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7280" y="3547872"/>
            <a:ext cx="741941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3502152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R$0.81M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931920"/>
            <a:ext cx="502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97280" y="3977640"/>
            <a:ext cx="548640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" y="3977640"/>
            <a:ext cx="569919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3931920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R$0.62M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361688"/>
            <a:ext cx="502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97280" y="4407408"/>
            <a:ext cx="548640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7280" y="4407408"/>
            <a:ext cx="564028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4361688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R$0.62M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791456"/>
            <a:ext cx="502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97280" y="4837176"/>
            <a:ext cx="548640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7280" y="4837176"/>
            <a:ext cx="324837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4791456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R$0.36M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5221224"/>
            <a:ext cx="502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97280" y="5266944"/>
            <a:ext cx="548640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0" y="5266944"/>
            <a:ext cx="320219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5221224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R$0.35M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5650992"/>
            <a:ext cx="502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97280" y="5696712"/>
            <a:ext cx="548640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7280" y="5696712"/>
            <a:ext cx="298153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44" name="Text 42"/>
          <p:cNvSpPr/>
          <p:nvPr/>
        </p:nvSpPr>
        <p:spPr>
          <a:xfrm>
            <a:off x="6720840" y="5650992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R$0.33M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229600" y="1828800"/>
            <a:ext cx="3410712" cy="4206240"/>
          </a:xfrm>
          <a:prstGeom prst="rect">
            <a:avLst/>
          </a:prstGeom>
          <a:solidFill>
            <a:srgbClr val="07432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549640" y="2148840"/>
            <a:ext cx="566928" cy="566928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47" name="Image 0" descr="images/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3084" y="2272284"/>
            <a:ext cx="301752" cy="301752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8549640" y="288036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Leads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8549640" y="3291840"/>
            <a:ext cx="2770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37.5%</a:t>
            </a:r>
            <a:endParaRPr lang="en-US" sz="3800" dirty="0"/>
          </a:p>
        </p:txBody>
      </p:sp>
      <p:sp>
        <p:nvSpPr>
          <p:cNvPr id="50" name="Text 47"/>
          <p:cNvSpPr/>
          <p:nvPr/>
        </p:nvSpPr>
        <p:spPr>
          <a:xfrm>
            <a:off x="8549640" y="3931920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platform revenue comes from São Paulo state alone — more than the next three states combined.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8549640" y="4846320"/>
            <a:ext cx="2770632" cy="0"/>
          </a:xfrm>
          <a:prstGeom prst="line">
            <a:avLst/>
          </a:prstGeom>
          <a:noFill/>
          <a:ln w="12700">
            <a:solidFill>
              <a:srgbClr val="1C5F45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549640" y="5029200"/>
            <a:ext cx="2770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and marketing spend concentrated in SP/RJ/MG would reach over 60% of revenue-generating customers.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 Top Customers by Spending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customers → orders → payments, GROUP BY customer_unique_id, LIMIT 10.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311335" y="786384"/>
            <a:ext cx="2331720" cy="310896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6" name="Text 4"/>
          <p:cNvSpPr/>
          <p:nvPr/>
        </p:nvSpPr>
        <p:spPr>
          <a:xfrm>
            <a:off x="9311335" y="7863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597" y="2057400"/>
            <a:ext cx="3046501" cy="310896"/>
          </a:xfrm>
          <a:prstGeom prst="rect">
            <a:avLst/>
          </a:prstGeom>
          <a:solidFill>
            <a:srgbClr val="2B2F33"/>
          </a:solidFill>
          <a:ln/>
        </p:spPr>
      </p:sp>
      <p:sp>
        <p:nvSpPr>
          <p:cNvPr id="8" name="Shape 6"/>
          <p:cNvSpPr/>
          <p:nvPr/>
        </p:nvSpPr>
        <p:spPr>
          <a:xfrm>
            <a:off x="4700613" y="2171700"/>
            <a:ext cx="82296" cy="82296"/>
          </a:xfrm>
          <a:prstGeom prst="ellipse">
            <a:avLst/>
          </a:prstGeom>
          <a:solidFill>
            <a:srgbClr val="E0605A"/>
          </a:solidFill>
          <a:ln/>
        </p:spPr>
      </p:sp>
      <p:sp>
        <p:nvSpPr>
          <p:cNvPr id="9" name="Shape 7"/>
          <p:cNvSpPr/>
          <p:nvPr/>
        </p:nvSpPr>
        <p:spPr>
          <a:xfrm>
            <a:off x="4883493" y="2171700"/>
            <a:ext cx="82296" cy="82296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10" name="Shape 8"/>
          <p:cNvSpPr/>
          <p:nvPr/>
        </p:nvSpPr>
        <p:spPr>
          <a:xfrm>
            <a:off x="5066373" y="2171700"/>
            <a:ext cx="82296" cy="82296"/>
          </a:xfrm>
          <a:prstGeom prst="ellipse">
            <a:avLst/>
          </a:prstGeom>
          <a:solidFill>
            <a:srgbClr val="59B46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597" y="2057400"/>
            <a:ext cx="30465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950" dirty="0"/>
          </a:p>
        </p:txBody>
      </p:sp>
      <p:pic>
        <p:nvPicPr>
          <p:cNvPr id="12" name="Image 0" descr="query_screenshots/Screenshot_2026-06-17_1948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597" y="2368296"/>
            <a:ext cx="3046501" cy="4160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572597" y="2057400"/>
            <a:ext cx="3046501" cy="4471416"/>
          </a:xfrm>
          <a:prstGeom prst="rect">
            <a:avLst/>
          </a:prstGeom>
          <a:ln w="15875">
            <a:solidFill>
              <a:srgbClr val="1F2225"/>
            </a:solidFill>
            <a:prstDash val="solid"/>
          </a:ln>
          <a:effectLst>
            <a:outerShdw sx="100000" sy="100000" kx="0" ky="0" algn="bl" rotWithShape="0" blurRad="1143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Customers by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JOIN customers → orders → payments, GROUP BY customer_unique_id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676656"/>
          </a:xfrm>
          <a:prstGeom prst="rect">
            <a:avLst/>
          </a:prstGeom>
          <a:solidFill>
            <a:srgbClr val="F4F7F6"/>
          </a:solidFill>
          <a:ln w="12700">
            <a:solidFill>
              <a:srgbClr val="E1E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47672"/>
            <a:ext cx="438912" cy="43891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947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1901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0a0a9211…faa872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61872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(unique)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51960" y="1828800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R$13,664.08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5394960" cy="676656"/>
          </a:xfrm>
          <a:prstGeom prst="rect">
            <a:avLst/>
          </a:prstGeom>
          <a:solidFill>
            <a:srgbClr val="F4F7F6"/>
          </a:solidFill>
          <a:ln w="12700">
            <a:solidFill>
              <a:srgbClr val="E1E8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734056"/>
            <a:ext cx="438912" cy="43891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734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61872" y="2688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46450c74…c6c120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61872" y="2962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(unique)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51960" y="2615184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R$9,553.02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401568"/>
            <a:ext cx="5394960" cy="676656"/>
          </a:xfrm>
          <a:prstGeom prst="rect">
            <a:avLst/>
          </a:prstGeom>
          <a:solidFill>
            <a:srgbClr val="F4F7F6"/>
          </a:solidFill>
          <a:ln w="12700">
            <a:solidFill>
              <a:srgbClr val="E1E8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520440"/>
            <a:ext cx="438912" cy="43891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61872" y="3474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da122df9…1a690c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61872" y="3749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(unique)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51960" y="3401568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R$7,571.63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4187952"/>
            <a:ext cx="5394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306824"/>
            <a:ext cx="438912" cy="438912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306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61872" y="42611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763c8b1c…662b93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61872" y="45354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(unique)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51960" y="418795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R$7,274.88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48640" y="4974336"/>
            <a:ext cx="5394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5093208"/>
            <a:ext cx="438912" cy="438912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5093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61872" y="5047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dc4802a7…ceb526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261872" y="5321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(unique)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51960" y="4974336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R$6,929.31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263640" y="1828800"/>
            <a:ext cx="5394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28232" y="1947672"/>
            <a:ext cx="438912" cy="438912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37" name="Text 35"/>
          <p:cNvSpPr/>
          <p:nvPr/>
        </p:nvSpPr>
        <p:spPr>
          <a:xfrm>
            <a:off x="6428232" y="1947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76872" y="1901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459bef48…5caa62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76872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(unique)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966960" y="1828800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R$6,922.21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263640" y="2615184"/>
            <a:ext cx="5394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28232" y="2734056"/>
            <a:ext cx="438912" cy="438912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43" name="Text 41"/>
          <p:cNvSpPr/>
          <p:nvPr/>
        </p:nvSpPr>
        <p:spPr>
          <a:xfrm>
            <a:off x="6428232" y="2734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76872" y="2688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ff4159b9…c35ed6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976872" y="2962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(unique)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966960" y="2615184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R$6,726.66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6263640" y="3401568"/>
            <a:ext cx="5394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28232" y="3520440"/>
            <a:ext cx="438912" cy="438912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49" name="Text 47"/>
          <p:cNvSpPr/>
          <p:nvPr/>
        </p:nvSpPr>
        <p:spPr>
          <a:xfrm>
            <a:off x="6428232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76872" y="3474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4007669d…360987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976872" y="3749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(unique)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966960" y="3401568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R$6,081.54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6263640" y="4187952"/>
            <a:ext cx="5394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28232" y="4306824"/>
            <a:ext cx="438912" cy="438912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55" name="Text 53"/>
          <p:cNvSpPr/>
          <p:nvPr/>
        </p:nvSpPr>
        <p:spPr>
          <a:xfrm>
            <a:off x="6428232" y="4306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976872" y="42611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5d0a2980…8960bf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976872" y="45354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(unique)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966960" y="418795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R$4,809.44</a:t>
            </a:r>
            <a:endParaRPr lang="en-US" sz="1450" dirty="0"/>
          </a:p>
        </p:txBody>
      </p:sp>
      <p:sp>
        <p:nvSpPr>
          <p:cNvPr id="59" name="Shape 57"/>
          <p:cNvSpPr/>
          <p:nvPr/>
        </p:nvSpPr>
        <p:spPr>
          <a:xfrm>
            <a:off x="6263640" y="4974336"/>
            <a:ext cx="5394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28232" y="5093208"/>
            <a:ext cx="438912" cy="438912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61" name="Text 59"/>
          <p:cNvSpPr/>
          <p:nvPr/>
        </p:nvSpPr>
        <p:spPr>
          <a:xfrm>
            <a:off x="6428232" y="5093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976872" y="5047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eebb5dda…040ccb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976872" y="5321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(unique)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966960" y="4974336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R$4,764.34</a:t>
            </a:r>
            <a:endParaRPr lang="en-US" sz="1450" dirty="0"/>
          </a:p>
        </p:txBody>
      </p:sp>
      <p:sp>
        <p:nvSpPr>
          <p:cNvPr id="65" name="Shape 63"/>
          <p:cNvSpPr/>
          <p:nvPr/>
        </p:nvSpPr>
        <p:spPr>
          <a:xfrm>
            <a:off x="548640" y="5806440"/>
            <a:ext cx="11091672" cy="685800"/>
          </a:xfrm>
          <a:prstGeom prst="rect">
            <a:avLst/>
          </a:prstGeom>
          <a:solidFill>
            <a:srgbClr val="07432F"/>
          </a:solidFill>
          <a:ln/>
        </p:spPr>
      </p:sp>
      <p:pic>
        <p:nvPicPr>
          <p:cNvPr id="66" name="Image 0" descr="images/cr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989320"/>
            <a:ext cx="320040" cy="320040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1325880" y="58064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priority: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customer alone spent R$13,664 — a VIP tier with personalized service could meaningfully lift lifetime value.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 Top Product Categories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products → order_items, GROUP BY product_category_name, ordered by revenue.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311335" y="786384"/>
            <a:ext cx="2331720" cy="310896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6" name="Text 4"/>
          <p:cNvSpPr/>
          <p:nvPr/>
        </p:nvSpPr>
        <p:spPr>
          <a:xfrm>
            <a:off x="9311335" y="7863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62138" y="2057400"/>
            <a:ext cx="2467419" cy="310896"/>
          </a:xfrm>
          <a:prstGeom prst="rect">
            <a:avLst/>
          </a:prstGeom>
          <a:solidFill>
            <a:srgbClr val="2B2F33"/>
          </a:solidFill>
          <a:ln/>
        </p:spPr>
      </p:sp>
      <p:sp>
        <p:nvSpPr>
          <p:cNvPr id="8" name="Shape 6"/>
          <p:cNvSpPr/>
          <p:nvPr/>
        </p:nvSpPr>
        <p:spPr>
          <a:xfrm>
            <a:off x="4990154" y="2171700"/>
            <a:ext cx="82296" cy="82296"/>
          </a:xfrm>
          <a:prstGeom prst="ellipse">
            <a:avLst/>
          </a:prstGeom>
          <a:solidFill>
            <a:srgbClr val="E0605A"/>
          </a:solidFill>
          <a:ln/>
        </p:spPr>
      </p:sp>
      <p:sp>
        <p:nvSpPr>
          <p:cNvPr id="9" name="Shape 7"/>
          <p:cNvSpPr/>
          <p:nvPr/>
        </p:nvSpPr>
        <p:spPr>
          <a:xfrm>
            <a:off x="5173034" y="2171700"/>
            <a:ext cx="82296" cy="82296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10" name="Shape 8"/>
          <p:cNvSpPr/>
          <p:nvPr/>
        </p:nvSpPr>
        <p:spPr>
          <a:xfrm>
            <a:off x="5355914" y="2171700"/>
            <a:ext cx="82296" cy="82296"/>
          </a:xfrm>
          <a:prstGeom prst="ellipse">
            <a:avLst/>
          </a:prstGeom>
          <a:solidFill>
            <a:srgbClr val="59B463"/>
          </a:solidFill>
          <a:ln/>
        </p:spPr>
      </p:sp>
      <p:sp>
        <p:nvSpPr>
          <p:cNvPr id="11" name="Text 9"/>
          <p:cNvSpPr/>
          <p:nvPr/>
        </p:nvSpPr>
        <p:spPr>
          <a:xfrm>
            <a:off x="4862138" y="2057400"/>
            <a:ext cx="24674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950" dirty="0"/>
          </a:p>
        </p:txBody>
      </p:sp>
      <p:pic>
        <p:nvPicPr>
          <p:cNvPr id="12" name="Image 0" descr="query_screenshots/Screenshot_2026-06-17_195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2138" y="2368296"/>
            <a:ext cx="2467419" cy="4160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862138" y="2057400"/>
            <a:ext cx="2467419" cy="4471416"/>
          </a:xfrm>
          <a:prstGeom prst="rect">
            <a:avLst/>
          </a:prstGeom>
          <a:ln w="15875">
            <a:solidFill>
              <a:srgbClr val="1F2225"/>
            </a:solidFill>
            <a:prstDash val="solid"/>
          </a:ln>
          <a:effectLst>
            <a:outerShdw sx="100000" sy="100000" kx="0" ky="0" algn="bl" rotWithShape="0" blurRad="1143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Product Categories by Revenue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JOIN products → order_items, GROUP BY product_category_name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17520" y="1828800"/>
            <a:ext cx="603504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7" name="Shape 5"/>
          <p:cNvSpPr/>
          <p:nvPr/>
        </p:nvSpPr>
        <p:spPr>
          <a:xfrm>
            <a:off x="3017520" y="1828800"/>
            <a:ext cx="6035040" cy="24688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0" y="1783080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R$1259K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203704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&amp; Gifts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17520" y="2249424"/>
            <a:ext cx="603504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2249424"/>
            <a:ext cx="5777680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0" y="2203704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R$1205K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24328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Bed, Bath &amp; Table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17520" y="2670048"/>
            <a:ext cx="603504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15" name="Shape 13"/>
          <p:cNvSpPr/>
          <p:nvPr/>
        </p:nvSpPr>
        <p:spPr>
          <a:xfrm>
            <a:off x="3017520" y="2670048"/>
            <a:ext cx="4972083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2624328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R$1037K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044952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Leisure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17520" y="3090672"/>
            <a:ext cx="603504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19" name="Shape 17"/>
          <p:cNvSpPr/>
          <p:nvPr/>
        </p:nvSpPr>
        <p:spPr>
          <a:xfrm>
            <a:off x="3017520" y="3090672"/>
            <a:ext cx="4737430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3044952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R$988K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465576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Accessories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17520" y="3511296"/>
            <a:ext cx="603504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23" name="Shape 21"/>
          <p:cNvSpPr/>
          <p:nvPr/>
        </p:nvSpPr>
        <p:spPr>
          <a:xfrm>
            <a:off x="3017520" y="3511296"/>
            <a:ext cx="4372577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3465576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R$912K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886200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&amp; Décor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17520" y="3931920"/>
            <a:ext cx="603504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27" name="Shape 25"/>
          <p:cNvSpPr/>
          <p:nvPr/>
        </p:nvSpPr>
        <p:spPr>
          <a:xfrm>
            <a:off x="3017520" y="3931920"/>
            <a:ext cx="3499016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3886200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R$730K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306824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Stuff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17520" y="4352544"/>
            <a:ext cx="603504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31" name="Shape 29"/>
          <p:cNvSpPr/>
          <p:nvPr/>
        </p:nvSpPr>
        <p:spPr>
          <a:xfrm>
            <a:off x="3017520" y="4352544"/>
            <a:ext cx="3046050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0" y="4306824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R$635K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727448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Housewares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017520" y="4773168"/>
            <a:ext cx="603504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35" name="Shape 33"/>
          <p:cNvSpPr/>
          <p:nvPr/>
        </p:nvSpPr>
        <p:spPr>
          <a:xfrm>
            <a:off x="3017520" y="4773168"/>
            <a:ext cx="3031463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0" y="4727448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R$632K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5148072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017520" y="5193792"/>
            <a:ext cx="603504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39" name="Shape 37"/>
          <p:cNvSpPr/>
          <p:nvPr/>
        </p:nvSpPr>
        <p:spPr>
          <a:xfrm>
            <a:off x="3017520" y="5193792"/>
            <a:ext cx="2841934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0" y="5148072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R$593K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5568696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Tools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017520" y="5614416"/>
            <a:ext cx="603504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43" name="Shape 41"/>
          <p:cNvSpPr/>
          <p:nvPr/>
        </p:nvSpPr>
        <p:spPr>
          <a:xfrm>
            <a:off x="3017520" y="5614416"/>
            <a:ext cx="2326675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0" y="5568696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R$485K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solidFill>
            <a:srgbClr val="07432F"/>
          </a:solidFill>
          <a:ln/>
        </p:spPr>
      </p:sp>
      <p:pic>
        <p:nvPicPr>
          <p:cNvPr id="46" name="Image 0" descr="images/st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181344"/>
            <a:ext cx="256032" cy="256032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188720" y="60807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focus: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and Watches &amp; Gifts lead revenue — strong cross-sell and gift-bundle candidates.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 Top Sellers by Revenue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seller_id on order_items, ordered by SUM(price) descending.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311335" y="786384"/>
            <a:ext cx="2331720" cy="310896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6" name="Text 4"/>
          <p:cNvSpPr/>
          <p:nvPr/>
        </p:nvSpPr>
        <p:spPr>
          <a:xfrm>
            <a:off x="9311335" y="7863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PERFORMANCE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27380" y="2057400"/>
            <a:ext cx="3336936" cy="310896"/>
          </a:xfrm>
          <a:prstGeom prst="rect">
            <a:avLst/>
          </a:prstGeom>
          <a:solidFill>
            <a:srgbClr val="2B2F33"/>
          </a:solidFill>
          <a:ln/>
        </p:spPr>
      </p:sp>
      <p:sp>
        <p:nvSpPr>
          <p:cNvPr id="8" name="Shape 6"/>
          <p:cNvSpPr/>
          <p:nvPr/>
        </p:nvSpPr>
        <p:spPr>
          <a:xfrm>
            <a:off x="4555396" y="2171700"/>
            <a:ext cx="82296" cy="82296"/>
          </a:xfrm>
          <a:prstGeom prst="ellipse">
            <a:avLst/>
          </a:prstGeom>
          <a:solidFill>
            <a:srgbClr val="E0605A"/>
          </a:solidFill>
          <a:ln/>
        </p:spPr>
      </p:sp>
      <p:sp>
        <p:nvSpPr>
          <p:cNvPr id="9" name="Shape 7"/>
          <p:cNvSpPr/>
          <p:nvPr/>
        </p:nvSpPr>
        <p:spPr>
          <a:xfrm>
            <a:off x="4738276" y="2171700"/>
            <a:ext cx="82296" cy="82296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10" name="Shape 8"/>
          <p:cNvSpPr/>
          <p:nvPr/>
        </p:nvSpPr>
        <p:spPr>
          <a:xfrm>
            <a:off x="4921156" y="2171700"/>
            <a:ext cx="82296" cy="82296"/>
          </a:xfrm>
          <a:prstGeom prst="ellipse">
            <a:avLst/>
          </a:prstGeom>
          <a:solidFill>
            <a:srgbClr val="59B463"/>
          </a:solidFill>
          <a:ln/>
        </p:spPr>
      </p:sp>
      <p:sp>
        <p:nvSpPr>
          <p:cNvPr id="11" name="Text 9"/>
          <p:cNvSpPr/>
          <p:nvPr/>
        </p:nvSpPr>
        <p:spPr>
          <a:xfrm>
            <a:off x="4427380" y="2057400"/>
            <a:ext cx="333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950" dirty="0"/>
          </a:p>
        </p:txBody>
      </p:sp>
      <p:pic>
        <p:nvPicPr>
          <p:cNvPr id="12" name="Image 0" descr="query_screenshots/Screenshot_2026-06-17_1952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7380" y="2368296"/>
            <a:ext cx="3336936" cy="4160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427380" y="2057400"/>
            <a:ext cx="3336936" cy="4471416"/>
          </a:xfrm>
          <a:prstGeom prst="rect">
            <a:avLst/>
          </a:prstGeom>
          <a:ln w="15875">
            <a:solidFill>
              <a:srgbClr val="1F2225"/>
            </a:solidFill>
            <a:prstDash val="solid"/>
          </a:ln>
          <a:effectLst>
            <a:outerShdw sx="100000" sy="100000" kx="0" ky="0" algn="bl" rotWithShape="0" blurRad="1143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Sellers by Revenue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GROUP BY seller_id on order_items, ordered by SUM(price)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65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4869f7…52b2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23160" y="1828800"/>
            <a:ext cx="576072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1828800"/>
            <a:ext cx="5760720" cy="24688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8275320" y="1783080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R$229.5K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03704"/>
            <a:ext cx="365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203704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532435…8905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23160" y="2249424"/>
            <a:ext cx="576072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13" name="Shape 11"/>
          <p:cNvSpPr/>
          <p:nvPr/>
        </p:nvSpPr>
        <p:spPr>
          <a:xfrm>
            <a:off x="2423160" y="2249424"/>
            <a:ext cx="5592608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203704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R$222.8K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624328"/>
            <a:ext cx="365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4a3ca9…3884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23160" y="2670048"/>
            <a:ext cx="576072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18" name="Shape 16"/>
          <p:cNvSpPr/>
          <p:nvPr/>
        </p:nvSpPr>
        <p:spPr>
          <a:xfrm>
            <a:off x="2423160" y="2670048"/>
            <a:ext cx="5032706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624328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R$200.5K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044952"/>
            <a:ext cx="365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04495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fa1c13…da93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23160" y="3090672"/>
            <a:ext cx="576072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23" name="Shape 21"/>
          <p:cNvSpPr/>
          <p:nvPr/>
        </p:nvSpPr>
        <p:spPr>
          <a:xfrm>
            <a:off x="2423160" y="3090672"/>
            <a:ext cx="4871264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4" name="Text 22"/>
          <p:cNvSpPr/>
          <p:nvPr/>
        </p:nvSpPr>
        <p:spPr>
          <a:xfrm>
            <a:off x="8275320" y="3044952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R$194.0K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465576"/>
            <a:ext cx="365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3465576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7c67e1…10ab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23160" y="3511296"/>
            <a:ext cx="576072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28" name="Shape 26"/>
          <p:cNvSpPr/>
          <p:nvPr/>
        </p:nvSpPr>
        <p:spPr>
          <a:xfrm>
            <a:off x="2423160" y="3511296"/>
            <a:ext cx="4717673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3465576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R$187.9K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886200"/>
            <a:ext cx="365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3886200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7e93a4…753a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23160" y="3931920"/>
            <a:ext cx="576072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33" name="Shape 31"/>
          <p:cNvSpPr/>
          <p:nvPr/>
        </p:nvSpPr>
        <p:spPr>
          <a:xfrm>
            <a:off x="2423160" y="3931920"/>
            <a:ext cx="4429176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4" name="Text 32"/>
          <p:cNvSpPr/>
          <p:nvPr/>
        </p:nvSpPr>
        <p:spPr>
          <a:xfrm>
            <a:off x="8275320" y="3886200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R$176.4K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306824"/>
            <a:ext cx="365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" y="4306824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da8622…b84a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23160" y="4352544"/>
            <a:ext cx="576072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38" name="Shape 36"/>
          <p:cNvSpPr/>
          <p:nvPr/>
        </p:nvSpPr>
        <p:spPr>
          <a:xfrm>
            <a:off x="2423160" y="4352544"/>
            <a:ext cx="4022606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9" name="Text 37"/>
          <p:cNvSpPr/>
          <p:nvPr/>
        </p:nvSpPr>
        <p:spPr>
          <a:xfrm>
            <a:off x="8275320" y="4306824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R$160.2K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727448"/>
            <a:ext cx="365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4400" y="4727448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7a67c8…d736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423160" y="4773168"/>
            <a:ext cx="576072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43" name="Shape 41"/>
          <p:cNvSpPr/>
          <p:nvPr/>
        </p:nvSpPr>
        <p:spPr>
          <a:xfrm>
            <a:off x="2423160" y="4773168"/>
            <a:ext cx="3558404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44" name="Text 42"/>
          <p:cNvSpPr/>
          <p:nvPr/>
        </p:nvSpPr>
        <p:spPr>
          <a:xfrm>
            <a:off x="8275320" y="4727448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R$141.7K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5148072"/>
            <a:ext cx="365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4400" y="514807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1025f0…0bfa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423160" y="5193792"/>
            <a:ext cx="576072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48" name="Shape 46"/>
          <p:cNvSpPr/>
          <p:nvPr/>
        </p:nvSpPr>
        <p:spPr>
          <a:xfrm>
            <a:off x="2423160" y="5193792"/>
            <a:ext cx="3488690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49" name="Text 47"/>
          <p:cNvSpPr/>
          <p:nvPr/>
        </p:nvSpPr>
        <p:spPr>
          <a:xfrm>
            <a:off x="8275320" y="5148072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R$139.0K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5568696"/>
            <a:ext cx="365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14400" y="5568696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955fee…ce60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423160" y="5614416"/>
            <a:ext cx="5760720" cy="24688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53" name="Shape 51"/>
          <p:cNvSpPr/>
          <p:nvPr/>
        </p:nvSpPr>
        <p:spPr>
          <a:xfrm>
            <a:off x="2423160" y="5614416"/>
            <a:ext cx="3393373" cy="24688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54" name="Text 52"/>
          <p:cNvSpPr/>
          <p:nvPr/>
        </p:nvSpPr>
        <p:spPr>
          <a:xfrm>
            <a:off x="8275320" y="5568696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R$135.2K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372600" y="1828800"/>
            <a:ext cx="2267712" cy="4206240"/>
          </a:xfrm>
          <a:prstGeom prst="rect">
            <a:avLst/>
          </a:prstGeom>
          <a:solidFill>
            <a:srgbClr val="F4F7F6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9646920" y="2103120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57" name="Image 0" descr="images/stor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1220" y="2217420"/>
            <a:ext cx="274320" cy="274320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9646920" y="27889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3,095</a:t>
            </a:r>
            <a:endParaRPr lang="en-US" sz="3000" dirty="0"/>
          </a:p>
        </p:txBody>
      </p:sp>
      <p:sp>
        <p:nvSpPr>
          <p:cNvPr id="59" name="Text 56"/>
          <p:cNvSpPr/>
          <p:nvPr/>
        </p:nvSpPr>
        <p:spPr>
          <a:xfrm>
            <a:off x="9646920" y="32461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SELLERS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9646920" y="3703320"/>
            <a:ext cx="1719072" cy="0"/>
          </a:xfrm>
          <a:prstGeom prst="line">
            <a:avLst/>
          </a:prstGeom>
          <a:noFill/>
          <a:ln w="12700">
            <a:solidFill>
              <a:srgbClr val="E1E8E5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646920" y="388620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sellers account for roughly R$1.79M — under 12% of platform revenue, indicating a long, fragmented tail of smaller sellers.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 Orders by Status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order_status on the orders table, ordered by order count descending.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311335" y="786384"/>
            <a:ext cx="2331720" cy="310896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6" name="Text 4"/>
          <p:cNvSpPr/>
          <p:nvPr/>
        </p:nvSpPr>
        <p:spPr>
          <a:xfrm>
            <a:off x="9311335" y="7863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HEALTH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01631" y="2057400"/>
            <a:ext cx="2988433" cy="310896"/>
          </a:xfrm>
          <a:prstGeom prst="rect">
            <a:avLst/>
          </a:prstGeom>
          <a:solidFill>
            <a:srgbClr val="2B2F33"/>
          </a:solidFill>
          <a:ln/>
        </p:spPr>
      </p:sp>
      <p:sp>
        <p:nvSpPr>
          <p:cNvPr id="8" name="Shape 6"/>
          <p:cNvSpPr/>
          <p:nvPr/>
        </p:nvSpPr>
        <p:spPr>
          <a:xfrm>
            <a:off x="4729647" y="2171700"/>
            <a:ext cx="82296" cy="82296"/>
          </a:xfrm>
          <a:prstGeom prst="ellipse">
            <a:avLst/>
          </a:prstGeom>
          <a:solidFill>
            <a:srgbClr val="E0605A"/>
          </a:solidFill>
          <a:ln/>
        </p:spPr>
      </p:sp>
      <p:sp>
        <p:nvSpPr>
          <p:cNvPr id="9" name="Shape 7"/>
          <p:cNvSpPr/>
          <p:nvPr/>
        </p:nvSpPr>
        <p:spPr>
          <a:xfrm>
            <a:off x="4912527" y="2171700"/>
            <a:ext cx="82296" cy="82296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10" name="Shape 8"/>
          <p:cNvSpPr/>
          <p:nvPr/>
        </p:nvSpPr>
        <p:spPr>
          <a:xfrm>
            <a:off x="5095407" y="2171700"/>
            <a:ext cx="82296" cy="82296"/>
          </a:xfrm>
          <a:prstGeom prst="ellipse">
            <a:avLst/>
          </a:prstGeom>
          <a:solidFill>
            <a:srgbClr val="59B463"/>
          </a:solidFill>
          <a:ln/>
        </p:spPr>
      </p:sp>
      <p:sp>
        <p:nvSpPr>
          <p:cNvPr id="11" name="Text 9"/>
          <p:cNvSpPr/>
          <p:nvPr/>
        </p:nvSpPr>
        <p:spPr>
          <a:xfrm>
            <a:off x="4601631" y="2057400"/>
            <a:ext cx="29884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950" dirty="0"/>
          </a:p>
        </p:txBody>
      </p:sp>
      <p:pic>
        <p:nvPicPr>
          <p:cNvPr id="12" name="Image 0" descr="query_screenshots/Screenshot_2026-06-17_1954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1631" y="2368296"/>
            <a:ext cx="2988433" cy="4160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601631" y="2057400"/>
            <a:ext cx="2988433" cy="4471416"/>
          </a:xfrm>
          <a:prstGeom prst="rect">
            <a:avLst/>
          </a:prstGeom>
          <a:ln w="15875">
            <a:solidFill>
              <a:srgbClr val="1F2225"/>
            </a:solidFill>
            <a:prstDash val="solid"/>
          </a:ln>
          <a:effectLst>
            <a:outerShdw sx="100000" sy="100000" kx="0" ky="0" algn="bl" rotWithShape="0" blurRad="1143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HEALTH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Fulfillment Status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GROUP BY order_status, ordered by order count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743200" cy="2743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321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CANCELED OR UNAVAILABLE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60520" y="1828800"/>
            <a:ext cx="7223760" cy="384048"/>
          </a:xfrm>
          <a:prstGeom prst="rect">
            <a:avLst/>
          </a:prstGeom>
          <a:solidFill>
            <a:srgbClr val="07432F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60920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0" y="18288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2212848"/>
            <a:ext cx="7223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2368296"/>
            <a:ext cx="109728" cy="109728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2128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60920" y="22128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96,478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22128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97.02%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60520" y="2633472"/>
            <a:ext cx="7223760" cy="420624"/>
          </a:xfrm>
          <a:prstGeom prst="rect">
            <a:avLst/>
          </a:prstGeom>
          <a:solidFill>
            <a:srgbClr val="FBFCFB"/>
          </a:solidFill>
          <a:ln w="6350">
            <a:solidFill>
              <a:srgbClr val="E1E8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2788920"/>
            <a:ext cx="109728" cy="109728"/>
          </a:xfrm>
          <a:prstGeom prst="ellipse">
            <a:avLst/>
          </a:prstGeom>
          <a:solidFill>
            <a:srgbClr val="2F6F8F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263347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60920" y="2633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1,107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0" y="26334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60520" y="3054096"/>
            <a:ext cx="7223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3209544"/>
            <a:ext cx="109728" cy="1097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05409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60920" y="305409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01200" y="305409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0.63%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60520" y="3474720"/>
            <a:ext cx="7223760" cy="420624"/>
          </a:xfrm>
          <a:prstGeom prst="rect">
            <a:avLst/>
          </a:prstGeom>
          <a:solidFill>
            <a:srgbClr val="FBFCFB"/>
          </a:solidFill>
          <a:ln w="6350">
            <a:solidFill>
              <a:srgbClr val="E1E8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0" y="3630168"/>
            <a:ext cx="109728" cy="1097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34747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360920" y="34747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609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601200" y="347472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0.61%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160520" y="3895344"/>
            <a:ext cx="7223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4050792"/>
            <a:ext cx="109728" cy="109728"/>
          </a:xfrm>
          <a:prstGeom prst="ellipse">
            <a:avLst/>
          </a:prstGeom>
          <a:solidFill>
            <a:srgbClr val="2F6F8F"/>
          </a:solidFill>
          <a:ln/>
        </p:spPr>
      </p:sp>
      <p:sp>
        <p:nvSpPr>
          <p:cNvPr id="36" name="Text 34"/>
          <p:cNvSpPr/>
          <p:nvPr/>
        </p:nvSpPr>
        <p:spPr>
          <a:xfrm>
            <a:off x="4617720" y="389534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360920" y="389534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601200" y="389534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0.32%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160520" y="4315968"/>
            <a:ext cx="7223760" cy="420624"/>
          </a:xfrm>
          <a:prstGeom prst="rect">
            <a:avLst/>
          </a:prstGeom>
          <a:solidFill>
            <a:srgbClr val="FBFCFB"/>
          </a:solidFill>
          <a:ln w="6350">
            <a:solidFill>
              <a:srgbClr val="E1E8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89120" y="4471416"/>
            <a:ext cx="109728" cy="109728"/>
          </a:xfrm>
          <a:prstGeom prst="ellipse">
            <a:avLst/>
          </a:prstGeom>
          <a:solidFill>
            <a:srgbClr val="2F6F8F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43159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360920" y="431596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601200" y="431596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0.30%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160520" y="4736592"/>
            <a:ext cx="7223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9120" y="4892040"/>
            <a:ext cx="109728" cy="109728"/>
          </a:xfrm>
          <a:prstGeom prst="ellipse">
            <a:avLst/>
          </a:prstGeom>
          <a:solidFill>
            <a:srgbClr val="5B6B66"/>
          </a:solidFill>
          <a:ln/>
        </p:spPr>
      </p:sp>
      <p:sp>
        <p:nvSpPr>
          <p:cNvPr id="46" name="Text 44"/>
          <p:cNvSpPr/>
          <p:nvPr/>
        </p:nvSpPr>
        <p:spPr>
          <a:xfrm>
            <a:off x="4617720" y="47365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360920" y="47365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601200" y="473659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0.01%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160520" y="5157216"/>
            <a:ext cx="7223760" cy="420624"/>
          </a:xfrm>
          <a:prstGeom prst="rect">
            <a:avLst/>
          </a:prstGeom>
          <a:solidFill>
            <a:srgbClr val="FBFCFB"/>
          </a:solidFill>
          <a:ln w="6350">
            <a:solidFill>
              <a:srgbClr val="E1E8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89120" y="5312664"/>
            <a:ext cx="109728" cy="109728"/>
          </a:xfrm>
          <a:prstGeom prst="ellipse">
            <a:avLst/>
          </a:prstGeom>
          <a:solidFill>
            <a:srgbClr val="5B6B66"/>
          </a:solidFill>
          <a:ln/>
        </p:spPr>
      </p:sp>
      <p:sp>
        <p:nvSpPr>
          <p:cNvPr id="51" name="Text 49"/>
          <p:cNvSpPr/>
          <p:nvPr/>
        </p:nvSpPr>
        <p:spPr>
          <a:xfrm>
            <a:off x="4617720" y="515721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7360920" y="515721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9601200" y="515721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Insight Into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84448" cy="2148840"/>
          </a:xfrm>
          <a:prstGeom prst="rect">
            <a:avLst/>
          </a:prstGeom>
          <a:solidFill>
            <a:srgbClr val="F4F7F6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6" name="Image 0" descr="images/cr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1259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5176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VIP Retention Tier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154680"/>
            <a:ext cx="3127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spend up to R$13,664 — introduce loyalty perks and early access for high-value, repeat buyers.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84448" cy="2148840"/>
          </a:xfrm>
          <a:prstGeom prst="rect">
            <a:avLst/>
          </a:prstGeom>
          <a:solidFill>
            <a:srgbClr val="F4F7F6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011680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1" name="Image 1" descr="images/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21259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65176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SP / RJ / MG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3154680"/>
            <a:ext cx="3127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states drive over 60% of revenue; prioritize regional logistics partners and localized campaigns.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84448" cy="2148840"/>
          </a:xfrm>
          <a:prstGeom prst="rect">
            <a:avLst/>
          </a:prstGeom>
          <a:solidFill>
            <a:srgbClr val="F4F7F6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2011680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6" name="Image 2" descr="images/c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21259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65176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Card-Based Installments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3154680"/>
            <a:ext cx="3127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already drives 78% of revenue — expand no-interest installment plans to lift average order value.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584448" cy="2148840"/>
          </a:xfrm>
          <a:prstGeom prst="rect">
            <a:avLst/>
          </a:prstGeom>
          <a:solidFill>
            <a:srgbClr val="F4F7F6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21" name="Image 3" descr="images/box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4577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8348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Top Categories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486400"/>
            <a:ext cx="3127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and Watches &amp; Gifts lead sales — pair them with lower-performing categories in cross-sell bundles.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4114800"/>
            <a:ext cx="3584448" cy="2148840"/>
          </a:xfrm>
          <a:prstGeom prst="rect">
            <a:avLst/>
          </a:prstGeom>
          <a:solidFill>
            <a:srgbClr val="F4F7F6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343400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26" name="Image 4" descr="images/tru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580" y="44577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98348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Long-Tail Seller Base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26280" y="5486400"/>
            <a:ext cx="3127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sellers are under 12% of revenue; support mid-tier sellers with tools to consolidate share and grow volume.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4114800"/>
            <a:ext cx="3584448" cy="2148840"/>
          </a:xfrm>
          <a:prstGeom prst="rect">
            <a:avLst/>
          </a:prstGeom>
          <a:solidFill>
            <a:srgbClr val="F4F7F6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343400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31" name="Image 5" descr="image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620" y="44577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98348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97.0% Delivery Rate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75320" y="5486400"/>
            <a:ext cx="3127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fulfillment SLAs and monitor canceled/unavailable orders to prevent erosion of customer trust.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Sales Analysis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0B6E4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4572000" cy="4572000"/>
          </a:xfrm>
          <a:prstGeom prst="ellipse">
            <a:avLst/>
          </a:prstGeom>
          <a:solidFill>
            <a:srgbClr val="D4A017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981048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query set and result exports available on request  ·  Built with MySQL on the Olist Brazilian E-Commerce dataset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15688" y="4663440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8" name="Image 0" descr="image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9132" y="4786884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84368" y="4663440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0" name="Image 1" descr="images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812" y="478688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53048" y="4663440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2" name="Image 2" descr="images/doll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492" y="4786884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Brazilian E-Commerce Sales Analysis</dc:title>
  <dc:subject>PptxGenJS Presentation</dc:subject>
  <dc:creator>Data Analytics</dc:creator>
  <cp:lastModifiedBy>Data Analytics</cp:lastModifiedBy>
  <cp:revision>1</cp:revision>
  <dcterms:created xsi:type="dcterms:W3CDTF">2026-06-21T15:13:40Z</dcterms:created>
  <dcterms:modified xsi:type="dcterms:W3CDTF">2026-06-21T15:13:40Z</dcterms:modified>
</cp:coreProperties>
</file>